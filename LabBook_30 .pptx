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56" r:id="rId2"/>
    <p:sldId id="289" r:id="rId3"/>
    <p:sldId id="290" r:id="rId4"/>
    <p:sldId id="389" r:id="rId5"/>
    <p:sldId id="296" r:id="rId6"/>
    <p:sldId id="390" r:id="rId7"/>
    <p:sldId id="375" r:id="rId8"/>
    <p:sldId id="391" r:id="rId9"/>
    <p:sldId id="376" r:id="rId10"/>
    <p:sldId id="392" r:id="rId11"/>
    <p:sldId id="393" r:id="rId12"/>
    <p:sldId id="394" r:id="rId13"/>
    <p:sldId id="377" r:id="rId14"/>
    <p:sldId id="395" r:id="rId15"/>
    <p:sldId id="396" r:id="rId16"/>
    <p:sldId id="388" r:id="rId17"/>
    <p:sldId id="380" r:id="rId18"/>
    <p:sldId id="397" r:id="rId19"/>
    <p:sldId id="381" r:id="rId20"/>
    <p:sldId id="288" r:id="rId2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82" d="100"/>
          <a:sy n="82" d="100"/>
        </p:scale>
        <p:origin x="114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29/05/2026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29/05/2026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E1371-2D4A-50DD-151D-B864F607F5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68F2F0-48EE-EBEB-0E1D-4645E58E0B8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0C7CEF-48CB-1EF5-20EB-FAABC31AB29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A70AADB-2D2B-5783-54E8-CFC9F34B899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241821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574884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DD63A-7C28-F6C1-F713-7DA85E8B8F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736CF0-9096-977B-3F1C-88937DB42C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322D88-9C85-A575-A308-34F8AA6E93C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E0E2A13-473D-B414-3A3D-DC01272B08E0}"/>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19957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9" name="Imagen 8">
            <a:extLst>
              <a:ext uri="{FF2B5EF4-FFF2-40B4-BE49-F238E27FC236}">
                <a16:creationId xmlns:a16="http://schemas.microsoft.com/office/drawing/2014/main" id="{C0D98ACA-89EF-9F7E-1687-F63D38FF63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9456" y="1459533"/>
            <a:ext cx="5572537" cy="3090516"/>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F7E6E-FA2D-D764-FB87-B2CA8E6B959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F6A1C17-83DB-A92C-D7AD-1762A79ECE38}"/>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C6CCC619-FDA3-BF9E-CB67-1B7987D6D6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B9729A3-1277-4CF5-06D0-F8632A6590E9}"/>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E897C963-3F93-CD9A-BFF0-71394D63FA26}"/>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2" name="CuadroTexto 1">
            <a:extLst>
              <a:ext uri="{FF2B5EF4-FFF2-40B4-BE49-F238E27FC236}">
                <a16:creationId xmlns:a16="http://schemas.microsoft.com/office/drawing/2014/main" id="{BE45C0DC-484B-0260-E9E7-D99D1CAE1EA8}"/>
              </a:ext>
            </a:extLst>
          </p:cNvPr>
          <p:cNvSpPr txBox="1"/>
          <p:nvPr/>
        </p:nvSpPr>
        <p:spPr>
          <a:xfrm>
            <a:off x="693761" y="1371600"/>
            <a:ext cx="11199971" cy="2862322"/>
          </a:xfrm>
          <a:prstGeom prst="rect">
            <a:avLst/>
          </a:prstGeom>
          <a:solidFill>
            <a:schemeClr val="bg1">
              <a:lumMod val="95000"/>
            </a:schemeClr>
          </a:solidFill>
          <a:ln w="28575">
            <a:solidFill>
              <a:srgbClr val="E0700D"/>
            </a:solidFill>
          </a:ln>
        </p:spPr>
        <p:txBody>
          <a:bodyPr wrap="square" rtlCol="0">
            <a:spAutoFit/>
          </a:bodyPr>
          <a:lstStyle/>
          <a:p>
            <a:pPr algn="just"/>
            <a:r>
              <a:rPr lang="es-ES" dirty="0"/>
              <a:t>Al establecer la diferencia de longitud en cero (</a:t>
            </a:r>
            <a:r>
              <a:rPr lang="es-ES" dirty="0" err="1"/>
              <a:t>dL</a:t>
            </a:r>
            <a:r>
              <a:rPr lang="es-ES" dirty="0"/>
              <a:t> = 0), ambos brazos del interferómetro poseen la misma longitud física. Físicamente, la luz que ingresa por el puerto in0 se divide en dos componentes de igual potencia gracias al primer acoplador direccional (50:50). Al propagarse por brazos idénticos, estas dos ondas no acumulan ninguna diferencia de fase diferencial entre. Al recombinarse en el segundo acoplador, las relaciones de fase intrínsecas introducidas por los acopladores generan una </a:t>
            </a:r>
            <a:r>
              <a:rPr lang="es-ES" b="1" dirty="0"/>
              <a:t>interferencia totalmente destructiva</a:t>
            </a:r>
            <a:r>
              <a:rPr lang="es-ES" dirty="0"/>
              <a:t> en el puerto directo (</a:t>
            </a:r>
            <a:r>
              <a:rPr lang="es-ES" i="1" dirty="0"/>
              <a:t>bar</a:t>
            </a:r>
            <a:r>
              <a:rPr lang="es-ES" dirty="0"/>
              <a:t>, H00), resultando en una salida de potencia nula. Simultáneamente, se produce una </a:t>
            </a:r>
            <a:r>
              <a:rPr lang="es-ES" b="1" dirty="0"/>
              <a:t>interferencia totalmente constructiva</a:t>
            </a:r>
            <a:r>
              <a:rPr lang="es-ES" dirty="0"/>
              <a:t> en el puerto cruzado (</a:t>
            </a:r>
            <a:r>
              <a:rPr lang="es-ES" i="1" dirty="0" err="1"/>
              <a:t>cross</a:t>
            </a:r>
            <a:r>
              <a:rPr lang="es-ES" dirty="0"/>
              <a:t>, H01), canalizando hacia allí toda la potencia (1 en escala lineal, 0 dB), logrando así un "estado de cruce perfecto" (</a:t>
            </a:r>
            <a:r>
              <a:rPr lang="es-ES" i="1" dirty="0" err="1"/>
              <a:t>perfect</a:t>
            </a:r>
            <a:r>
              <a:rPr lang="es-ES" i="1" dirty="0"/>
              <a:t> </a:t>
            </a:r>
            <a:r>
              <a:rPr lang="es-ES" i="1" dirty="0" err="1"/>
              <a:t>cross</a:t>
            </a:r>
            <a:r>
              <a:rPr lang="es-ES" i="1" dirty="0"/>
              <a:t> </a:t>
            </a:r>
            <a:r>
              <a:rPr lang="es-ES" i="1" dirty="0" err="1"/>
              <a:t>state</a:t>
            </a:r>
            <a:r>
              <a:rPr lang="es-ES" dirty="0"/>
              <a:t>). Finalmente, al ser </a:t>
            </a:r>
            <a:r>
              <a:rPr lang="es-ES" dirty="0" err="1"/>
              <a:t>dL</a:t>
            </a:r>
            <a:r>
              <a:rPr lang="es-ES" dirty="0"/>
              <a:t>=0, la interferencia es independiente de la longitud de onda, lo que explica por qué las gráficas resultan ser líneas completamente planas en todo el espectro de 1500 a 1600 nm, careciendo del Rango Espectral Libre (FSR) periódico característico de los MZI desbalanceados.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5162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9" name="Imagen 8">
            <a:extLst>
              <a:ext uri="{FF2B5EF4-FFF2-40B4-BE49-F238E27FC236}">
                <a16:creationId xmlns:a16="http://schemas.microsoft.com/office/drawing/2014/main" id="{8D1F6524-8482-4678-392B-6D98243D17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251" y="1513926"/>
            <a:ext cx="5875739" cy="3051014"/>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9B395-92BD-9B25-290E-6CEFEECEF1D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DAD129F-A54A-7477-329A-90A5F7F63E2A}"/>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8288FA4D-3014-3584-5AA6-CA562AE0F7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298C178-852F-D5BC-A17B-4D8119C0F292}"/>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39230DDE-78E9-CB30-9F32-9A3F549A044F}"/>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2" name="CuadroTexto 1">
            <a:extLst>
              <a:ext uri="{FF2B5EF4-FFF2-40B4-BE49-F238E27FC236}">
                <a16:creationId xmlns:a16="http://schemas.microsoft.com/office/drawing/2014/main" id="{EE06674F-A4A9-9799-5F11-BF156CD546A2}"/>
              </a:ext>
            </a:extLst>
          </p:cNvPr>
          <p:cNvSpPr txBox="1"/>
          <p:nvPr/>
        </p:nvSpPr>
        <p:spPr>
          <a:xfrm>
            <a:off x="609600" y="1174088"/>
            <a:ext cx="11199971" cy="341632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Al introducir una diferencia física de longitud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 100 </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entre ambos brazos del interferómetro, las ondas ópticas acumulan una diferencia de fase que depende fuertemente de la longitud de onda (lambda). Esto provoca que la función de transferencia muestre un comportamiento oscilatorio periódico, alternando entre interferencias constructivas y destructivas. Como se observa en la gráfica, las salidas directa (H_00) y cruzada (H_01) son complementarias: cuando la señal H_{00} alcanza un máximo de transmisión (interferencia constructiva, 0 dB), la señal H_{01} experimenta una caída profunda o nulo (interferencia destructiva), y viceversa.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Rango Espectral Libre (FSR) define la periodicidad espectral del interferómetro. Representa la distancia en longitud de </a:t>
            </a:r>
            <a:r>
              <a:rPr lang="es-ES" sz="1200" dirty="0" err="1">
                <a:latin typeface="Arial" panose="020B0604020202020204" pitchFamily="34" charset="0"/>
                <a:cs typeface="Arial" panose="020B0604020202020204" pitchFamily="34" charset="0"/>
              </a:rPr>
              <a:t>ondarequerida</a:t>
            </a:r>
            <a:r>
              <a:rPr lang="es-ES" sz="1200" dirty="0">
                <a:latin typeface="Arial" panose="020B0604020202020204" pitchFamily="34" charset="0"/>
                <a:cs typeface="Arial" panose="020B0604020202020204" pitchFamily="34" charset="0"/>
              </a:rPr>
              <a:t> para que el desfase relativo entre los brazos cambie exactamente en 2*pi, completando así un ciclo de oscilación. La relación matemática entre el FSR y la diferencia de longitud de los brazos viene dada por la ecuación: </a:t>
            </a: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Esta ecuación demuestra que el FSR es inversamente proporcional a la diferencia de longitud </a:t>
            </a:r>
            <a:r>
              <a:rPr lang="es-ES" sz="1200" dirty="0" err="1">
                <a:latin typeface="Arial" panose="020B0604020202020204" pitchFamily="34" charset="0"/>
                <a:cs typeface="Arial" panose="020B0604020202020204" pitchFamily="34" charset="0"/>
              </a:rPr>
              <a:t>dLy</a:t>
            </a:r>
            <a:r>
              <a:rPr lang="es-ES" sz="1200" dirty="0">
                <a:latin typeface="Arial" panose="020B0604020202020204" pitchFamily="34" charset="0"/>
                <a:cs typeface="Arial" panose="020B0604020202020204" pitchFamily="34" charset="0"/>
              </a:rPr>
              <a:t> al índice de grupo ng. Físicamente, esto significa que cuanto mayor sea el desbalance geométrico entre los brazos del MZI, más rápida será la oscilación en frecuencia/longitud de onda y, por tanto, más estrecho será el FSR.</a:t>
            </a:r>
          </a:p>
          <a:p>
            <a:pPr algn="just"/>
            <a:r>
              <a:rPr lang="es-ES" sz="1200" dirty="0">
                <a:latin typeface="Arial" panose="020B0604020202020204" pitchFamily="34" charset="0"/>
                <a:cs typeface="Arial" panose="020B0604020202020204" pitchFamily="34" charset="0"/>
              </a:rPr>
              <a:t>Teniendo en cuenta que lambda = 1550 nm, ng=2 y </a:t>
            </a:r>
            <a:r>
              <a:rPr lang="es-ES" sz="1200" dirty="0" err="1">
                <a:latin typeface="Arial" panose="020B0604020202020204" pitchFamily="34" charset="0"/>
                <a:cs typeface="Arial" panose="020B0604020202020204" pitchFamily="34" charset="0"/>
              </a:rPr>
              <a:t>dL</a:t>
            </a:r>
            <a:r>
              <a:rPr lang="es-ES" sz="1200" dirty="0">
                <a:latin typeface="Arial" panose="020B0604020202020204" pitchFamily="34" charset="0"/>
                <a:cs typeface="Arial" panose="020B0604020202020204" pitchFamily="34" charset="0"/>
              </a:rPr>
              <a:t> = 100um, al sustituir en la expresión anterior se obtiene un FSR de 12.01 nm.</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De forma gráfica, también se obtiene dicho valor…..</a:t>
            </a:r>
          </a:p>
          <a:p>
            <a:pPr algn="just"/>
            <a:endParaRPr lang="en-US" sz="1200" dirty="0">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09205DB6-E58E-8616-905D-58614A4B49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9225" y="2789915"/>
            <a:ext cx="1733550" cy="581025"/>
          </a:xfrm>
          <a:prstGeom prst="rect">
            <a:avLst/>
          </a:prstGeom>
        </p:spPr>
      </p:pic>
    </p:spTree>
    <p:extLst>
      <p:ext uri="{BB962C8B-B14F-4D97-AF65-F5344CB8AC3E}">
        <p14:creationId xmlns:p14="http://schemas.microsoft.com/office/powerpoint/2010/main" val="3071865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551839" y="1997667"/>
            <a:ext cx="3855543" cy="1938992"/>
          </a:xfrm>
          <a:prstGeom prst="rect">
            <a:avLst/>
          </a:prstGeom>
          <a:noFill/>
        </p:spPr>
        <p:txBody>
          <a:bodyPr wrap="none" rtlCol="0">
            <a:spAutoFit/>
          </a:bodyPr>
          <a:lstStyle/>
          <a:p>
            <a:pPr algn="ctr"/>
            <a:endParaRPr lang="en-US" sz="2000" dirty="0"/>
          </a:p>
          <a:p>
            <a:pPr algn="ctr"/>
            <a:r>
              <a:rPr lang="en-US" sz="2000" dirty="0"/>
              <a:t>dL = (lambda^2)/(ng * FSR)</a:t>
            </a:r>
          </a:p>
          <a:p>
            <a:pPr algn="ctr"/>
            <a:r>
              <a:rPr lang="en-US" sz="2000" dirty="0"/>
              <a:t>dL = ((1550*10^-9)^2)/(2*2*10^-9)</a:t>
            </a:r>
          </a:p>
          <a:p>
            <a:pPr algn="ctr"/>
            <a:endParaRPr lang="en-US" sz="2000" dirty="0"/>
          </a:p>
          <a:p>
            <a:pPr algn="ctr"/>
            <a:r>
              <a:rPr lang="en-US" sz="2000" dirty="0"/>
              <a:t>dL = 600.625 um</a:t>
            </a:r>
          </a:p>
          <a:p>
            <a:pPr algn="ctr"/>
            <a:r>
              <a:rPr lang="en-US" sz="2000" dirty="0"/>
              <a:t> </a:t>
            </a:r>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pic>
        <p:nvPicPr>
          <p:cNvPr id="4" name="Imagen 3">
            <a:extLst>
              <a:ext uri="{FF2B5EF4-FFF2-40B4-BE49-F238E27FC236}">
                <a16:creationId xmlns:a16="http://schemas.microsoft.com/office/drawing/2014/main" id="{15F65804-9EAF-3135-6373-A9A408E711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841" y="1096841"/>
            <a:ext cx="6861129" cy="3740644"/>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D6A6-6E86-62EE-FE76-529AFBEA9709}"/>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C5FF3E0-FA24-B69F-9289-F2D8B2D2464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FC5C1B52-3825-FF71-CA66-B65AF89A4031}"/>
              </a:ext>
            </a:extLst>
          </p:cNvPr>
          <p:cNvSpPr>
            <a:spLocks noGrp="1"/>
          </p:cNvSpPr>
          <p:nvPr>
            <p:ph type="sldNum" sz="quarter" idx="7"/>
          </p:nvPr>
        </p:nvSpPr>
        <p:spPr/>
        <p:txBody>
          <a:bodyPr/>
          <a:lstStyle/>
          <a:p>
            <a:fld id="{C2F52289-4012-4053-9770-FE82CEB9514F}" type="slidenum">
              <a:rPr lang="en-US" smtClean="0"/>
              <a:pPr/>
              <a:t>8</a:t>
            </a:fld>
            <a:endParaRPr lang="en-US" dirty="0"/>
          </a:p>
        </p:txBody>
      </p:sp>
      <p:sp>
        <p:nvSpPr>
          <p:cNvPr id="8" name="CuadroTexto 7">
            <a:extLst>
              <a:ext uri="{FF2B5EF4-FFF2-40B4-BE49-F238E27FC236}">
                <a16:creationId xmlns:a16="http://schemas.microsoft.com/office/drawing/2014/main" id="{BE571438-0FD4-9177-C046-7E294A9B841D}"/>
              </a:ext>
            </a:extLst>
          </p:cNvPr>
          <p:cNvSpPr txBox="1"/>
          <p:nvPr/>
        </p:nvSpPr>
        <p:spPr>
          <a:xfrm>
            <a:off x="496235" y="1295400"/>
            <a:ext cx="11199530" cy="304698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La función de transferencia resultante muestra un comportamiento altamente oscilatorio y periódico. Al mantener los coeficientes de acoplo ideales </a:t>
            </a:r>
            <a:r>
              <a:rPr lang="es-ES" sz="1200" dirty="0" err="1">
                <a:latin typeface="Arial" panose="020B0604020202020204" pitchFamily="34" charset="0"/>
                <a:cs typeface="Arial" panose="020B0604020202020204" pitchFamily="34" charset="0"/>
              </a:rPr>
              <a:t>K_a</a:t>
            </a:r>
            <a:r>
              <a:rPr lang="es-ES" sz="1200" dirty="0">
                <a:latin typeface="Arial" panose="020B0604020202020204" pitchFamily="34" charset="0"/>
                <a:cs typeface="Arial" panose="020B0604020202020204" pitchFamily="34" charset="0"/>
              </a:rPr>
              <a:t> = </a:t>
            </a:r>
            <a:r>
              <a:rPr lang="es-ES" sz="1200" dirty="0" err="1">
                <a:latin typeface="Arial" panose="020B0604020202020204" pitchFamily="34" charset="0"/>
                <a:cs typeface="Arial" panose="020B0604020202020204" pitchFamily="34" charset="0"/>
              </a:rPr>
              <a:t>K_b</a:t>
            </a:r>
            <a:r>
              <a:rPr lang="es-ES" sz="1200" dirty="0">
                <a:latin typeface="Arial" panose="020B0604020202020204" pitchFamily="34" charset="0"/>
                <a:cs typeface="Arial" panose="020B0604020202020204" pitchFamily="34" charset="0"/>
              </a:rPr>
              <a:t>= 0.5, la interferencia sigue alcanzando una extinción perfecta (caídas muy profundas en la gráfica logarítmica) y las salidas H_00 y H_01 se mantienen estrictamente complementarias (cuando una está en un máximo, la otra está en un mínimo).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Los resultados obtenidos son coherentes con los datos ya que al hacer zoom en la gráfica se observa visualmente como… </a:t>
            </a:r>
          </a:p>
          <a:p>
            <a:endParaRPr lang="es-ES" sz="1200" dirty="0">
              <a:latin typeface="Arial" panose="020B0604020202020204" pitchFamily="34" charset="0"/>
              <a:cs typeface="Arial" panose="020B0604020202020204" pitchFamily="34" charset="0"/>
            </a:endParaRP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 el FSR es la distancia entre dos picos consecutivos. Si observamos cualquier intervalo de 20 nm en el eje X (por ejemplo, de 1500 nm a 1520 nm), podemos contar exactamente 10 ciclos completos de interferencia. Esto confirma gráficamente que el FSR es de $20\</a:t>
            </a:r>
            <a:r>
              <a:rPr lang="es-ES" sz="1200" dirty="0" err="1">
                <a:latin typeface="Arial" panose="020B0604020202020204" pitchFamily="34" charset="0"/>
                <a:cs typeface="Arial" panose="020B0604020202020204" pitchFamily="34" charset="0"/>
              </a:rPr>
              <a:t>text</a:t>
            </a:r>
            <a:r>
              <a:rPr lang="es-ES" sz="1200" dirty="0">
                <a:latin typeface="Arial" panose="020B0604020202020204" pitchFamily="34" charset="0"/>
                <a:cs typeface="Arial" panose="020B0604020202020204" pitchFamily="34" charset="0"/>
              </a:rPr>
              <a:t>{ nm} / 10\</a:t>
            </a:r>
            <a:r>
              <a:rPr lang="es-ES" sz="1200" dirty="0" err="1">
                <a:latin typeface="Arial" panose="020B0604020202020204" pitchFamily="34" charset="0"/>
                <a:cs typeface="Arial" panose="020B0604020202020204" pitchFamily="34" charset="0"/>
              </a:rPr>
              <a:t>text</a:t>
            </a:r>
            <a:r>
              <a:rPr lang="es-ES" sz="1200" dirty="0">
                <a:latin typeface="Arial" panose="020B0604020202020204" pitchFamily="34" charset="0"/>
                <a:cs typeface="Arial" panose="020B0604020202020204" pitchFamily="34" charset="0"/>
              </a:rPr>
              <a:t>{ ciclos} = 2\</a:t>
            </a:r>
            <a:r>
              <a:rPr lang="es-ES" sz="1200" dirty="0" err="1">
                <a:latin typeface="Arial" panose="020B0604020202020204" pitchFamily="34" charset="0"/>
                <a:cs typeface="Arial" panose="020B0604020202020204" pitchFamily="34" charset="0"/>
              </a:rPr>
              <a:t>text</a:t>
            </a:r>
            <a:r>
              <a:rPr lang="es-ES" sz="1200" dirty="0">
                <a:latin typeface="Arial" panose="020B0604020202020204" pitchFamily="34" charset="0"/>
                <a:cs typeface="Arial" panose="020B0604020202020204" pitchFamily="34" charset="0"/>
              </a:rPr>
              <a:t>{ nm}$.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10" name="Gráfico 9">
            <a:extLst>
              <a:ext uri="{FF2B5EF4-FFF2-40B4-BE49-F238E27FC236}">
                <a16:creationId xmlns:a16="http://schemas.microsoft.com/office/drawing/2014/main" id="{911677AD-A950-FFA3-3348-897A0460EB3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6501AEE-45E5-82B1-F6DA-15E816A316D1}"/>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spTree>
    <p:extLst>
      <p:ext uri="{BB962C8B-B14F-4D97-AF65-F5344CB8AC3E}">
        <p14:creationId xmlns:p14="http://schemas.microsoft.com/office/powerpoint/2010/main" val="2871702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9</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 case 1.</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4" name="Rectángulo 3">
            <a:extLst>
              <a:ext uri="{FF2B5EF4-FFF2-40B4-BE49-F238E27FC236}">
                <a16:creationId xmlns:a16="http://schemas.microsoft.com/office/drawing/2014/main" id="{FDBAE930-4EE5-671B-4DE7-6BC60C48E7C0}"/>
              </a:ext>
            </a:extLst>
          </p:cNvPr>
          <p:cNvSpPr/>
          <p:nvPr/>
        </p:nvSpPr>
        <p:spPr>
          <a:xfrm>
            <a:off x="382588" y="1418373"/>
            <a:ext cx="11426824" cy="28488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0452EA74-E626-B509-868D-1214A5F3F57F}"/>
              </a:ext>
            </a:extLst>
          </p:cNvPr>
          <p:cNvPicPr>
            <a:picLocks noChangeAspect="1"/>
          </p:cNvPicPr>
          <p:nvPr/>
        </p:nvPicPr>
        <p:blipFill>
          <a:blip r:embed="rId3"/>
          <a:stretch>
            <a:fillRect/>
          </a:stretch>
        </p:blipFill>
        <p:spPr>
          <a:xfrm>
            <a:off x="382588" y="1416763"/>
            <a:ext cx="11444500" cy="4022863"/>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513B6-1746-8D30-EA9B-9A0047F8D59D}"/>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665D6802-3C65-B505-888F-AB0B2107F1F3}"/>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1108B83E-725C-715C-5A31-2665EF5E396A}"/>
              </a:ext>
            </a:extLst>
          </p:cNvPr>
          <p:cNvSpPr>
            <a:spLocks noGrp="1"/>
          </p:cNvSpPr>
          <p:nvPr>
            <p:ph type="sldNum" sz="quarter" idx="7"/>
          </p:nvPr>
        </p:nvSpPr>
        <p:spPr/>
        <p:txBody>
          <a:bodyPr/>
          <a:lstStyle/>
          <a:p>
            <a:fld id="{C2F52289-4012-4053-9770-FE82CEB9514F}" type="slidenum">
              <a:rPr lang="en-US" smtClean="0"/>
              <a:pPr/>
              <a:t>10</a:t>
            </a:fld>
            <a:endParaRPr lang="en-US" dirty="0"/>
          </a:p>
        </p:txBody>
      </p:sp>
      <p:pic>
        <p:nvPicPr>
          <p:cNvPr id="10" name="Gráfico 9">
            <a:extLst>
              <a:ext uri="{FF2B5EF4-FFF2-40B4-BE49-F238E27FC236}">
                <a16:creationId xmlns:a16="http://schemas.microsoft.com/office/drawing/2014/main" id="{EA5D57DB-1087-7F26-A051-B32CA27EFB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FC025679-1E8E-F20F-1AD3-1572C0406D6D}"/>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 case 2.</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pic>
        <p:nvPicPr>
          <p:cNvPr id="8" name="Imagen 7">
            <a:extLst>
              <a:ext uri="{FF2B5EF4-FFF2-40B4-BE49-F238E27FC236}">
                <a16:creationId xmlns:a16="http://schemas.microsoft.com/office/drawing/2014/main" id="{F4742D9E-5248-F896-A20C-B0A329FAEA1F}"/>
              </a:ext>
            </a:extLst>
          </p:cNvPr>
          <p:cNvPicPr>
            <a:picLocks noChangeAspect="1"/>
          </p:cNvPicPr>
          <p:nvPr/>
        </p:nvPicPr>
        <p:blipFill>
          <a:blip r:embed="rId3"/>
          <a:stretch>
            <a:fillRect/>
          </a:stretch>
        </p:blipFill>
        <p:spPr>
          <a:xfrm>
            <a:off x="685800" y="1314266"/>
            <a:ext cx="10994410" cy="4229467"/>
          </a:xfrm>
          <a:prstGeom prst="rect">
            <a:avLst/>
          </a:prstGeom>
        </p:spPr>
      </p:pic>
    </p:spTree>
    <p:extLst>
      <p:ext uri="{BB962C8B-B14F-4D97-AF65-F5344CB8AC3E}">
        <p14:creationId xmlns:p14="http://schemas.microsoft.com/office/powerpoint/2010/main" val="1312541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77650-DD4E-5251-3A61-03280118C662}"/>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E3361F83-5ECF-6C61-83C0-42420F55826B}"/>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19599DF8-CB25-DE4F-F543-2857EFE4A7AF}"/>
              </a:ext>
            </a:extLst>
          </p:cNvPr>
          <p:cNvSpPr>
            <a:spLocks noGrp="1"/>
          </p:cNvSpPr>
          <p:nvPr>
            <p:ph type="sldNum" sz="quarter" idx="7"/>
          </p:nvPr>
        </p:nvSpPr>
        <p:spPr/>
        <p:txBody>
          <a:bodyPr/>
          <a:lstStyle/>
          <a:p>
            <a:fld id="{C2F52289-4012-4053-9770-FE82CEB9514F}" type="slidenum">
              <a:rPr lang="en-US" smtClean="0"/>
              <a:pPr/>
              <a:t>11</a:t>
            </a:fld>
            <a:endParaRPr lang="en-US" dirty="0"/>
          </a:p>
        </p:txBody>
      </p:sp>
      <p:pic>
        <p:nvPicPr>
          <p:cNvPr id="10" name="Gráfico 9">
            <a:extLst>
              <a:ext uri="{FF2B5EF4-FFF2-40B4-BE49-F238E27FC236}">
                <a16:creationId xmlns:a16="http://schemas.microsoft.com/office/drawing/2014/main" id="{68AE9BF1-4660-E7CA-59A4-77CDE089876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42D3ED54-716F-A43B-C1C2-427843E2725A}"/>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BFFAAEE2-E0E7-32F8-6D31-D8380725B50C}"/>
              </a:ext>
            </a:extLst>
          </p:cNvPr>
          <p:cNvSpPr txBox="1"/>
          <p:nvPr/>
        </p:nvSpPr>
        <p:spPr>
          <a:xfrm>
            <a:off x="480239" y="1447800"/>
            <a:ext cx="11199971" cy="304698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ambos </a:t>
            </a:r>
            <a:r>
              <a:rPr lang="en-US" sz="1200" dirty="0" err="1">
                <a:latin typeface="Arial" panose="020B0604020202020204" pitchFamily="34" charset="0"/>
                <a:cs typeface="Arial" panose="020B0604020202020204" pitchFamily="34" charset="0"/>
              </a:rPr>
              <a:t>casos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transferencia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oscilatoria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periódica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brazos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FSR es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pequeño</a:t>
            </a:r>
            <a:r>
              <a:rPr lang="en-US" sz="1200" dirty="0">
                <a:latin typeface="Arial" panose="020B0604020202020204" pitchFamily="34" charset="0"/>
                <a:cs typeface="Arial" panose="020B0604020202020204" pitchFamily="34" charset="0"/>
              </a:rPr>
              <a:t> y las </a:t>
            </a:r>
            <a:r>
              <a:rPr lang="en-US" sz="1200" dirty="0" err="1">
                <a:latin typeface="Arial" panose="020B0604020202020204" pitchFamily="34" charset="0"/>
                <a:cs typeface="Arial" panose="020B0604020202020204" pitchFamily="34" charset="0"/>
              </a:rPr>
              <a:t>interferencias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juntas. </a:t>
            </a:r>
            <a:r>
              <a:rPr lang="es-ES" sz="1200" dirty="0">
                <a:latin typeface="Arial" panose="020B0604020202020204" pitchFamily="34" charset="0"/>
                <a:cs typeface="Arial" panose="020B0604020202020204" pitchFamily="34" charset="0"/>
              </a:rPr>
              <a:t>La gran diferencia radica en el desbalance de potencia. En el caso 1, se usan acopladores 50/50 en ambas etapas, por lo que la cantidad de luz que incide en ambos brazos es la misma. Al tener en ambos brazos las mismas pérdidas, la amplitud de los campos que llegan al segundo acoplador es la misma, permitiendo que una gran interferencia en las longitudes de onda en las que el desfase es pi. En el Caso 2, el primer acoplador no divide la luz equitativamente (Ka = 0.1). Un brazo transporta mucha más energía que el otro. Cuando estas dos señales se recombinan en el segundo acoplador (Kb = 0.5), es matemáticamente imposible que el campo eléctrico del brazo con menos potencia cancele por completo al campo eléctrico del brazo con más potencia. Por tanto, la interferencia destructiva es incompleta y menor que para el caso 1.</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puede observar comparando el </a:t>
            </a:r>
            <a:r>
              <a:rPr lang="es-ES" sz="1200" i="1" dirty="0" err="1">
                <a:latin typeface="Arial" panose="020B0604020202020204" pitchFamily="34" charset="0"/>
                <a:cs typeface="Arial" panose="020B0604020202020204" pitchFamily="34" charset="0"/>
              </a:rPr>
              <a:t>Extinction</a:t>
            </a:r>
            <a:r>
              <a:rPr lang="es-ES" sz="1200" i="1" dirty="0">
                <a:latin typeface="Arial" panose="020B0604020202020204" pitchFamily="34" charset="0"/>
                <a:cs typeface="Arial" panose="020B0604020202020204" pitchFamily="34" charset="0"/>
              </a:rPr>
              <a:t> Ratio</a:t>
            </a:r>
            <a:r>
              <a:rPr lang="es-ES" sz="1200" dirty="0">
                <a:latin typeface="Arial" panose="020B0604020202020204" pitchFamily="34" charset="0"/>
                <a:cs typeface="Arial" panose="020B0604020202020204" pitchFamily="34" charset="0"/>
              </a:rPr>
              <a:t> (ER), el cual, mide la profundidad de las "caídas" o resonancias en la función de transferencia, y se define formalmente como la relación entre la potencia máxima y mínima de transmisión. En el caso 1, la profundidad de las resonancias llega a poco más de 0.22 (13,5 dB). En cambio, en el caso dos el ER es de 0.43 (7,4 dB).</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8169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C73BF-84C4-47AD-9F8C-E7B2FA3185E7}"/>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83A82A1B-02D5-B403-9837-52D4E77833F8}"/>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5DD620BF-A041-F257-70BF-789AFA5F7FAF}"/>
              </a:ext>
            </a:extLst>
          </p:cNvPr>
          <p:cNvSpPr>
            <a:spLocks noGrp="1"/>
          </p:cNvSpPr>
          <p:nvPr>
            <p:ph type="sldNum" sz="quarter" idx="7"/>
          </p:nvPr>
        </p:nvSpPr>
        <p:spPr/>
        <p:txBody>
          <a:bodyPr/>
          <a:lstStyle/>
          <a:p>
            <a:fld id="{C2F52289-4012-4053-9770-FE82CEB9514F}" type="slidenum">
              <a:rPr lang="en-US" smtClean="0"/>
              <a:pPr/>
              <a:t>12</a:t>
            </a:fld>
            <a:endParaRPr lang="en-US" dirty="0"/>
          </a:p>
        </p:txBody>
      </p:sp>
      <p:pic>
        <p:nvPicPr>
          <p:cNvPr id="10" name="Gráfico 9">
            <a:extLst>
              <a:ext uri="{FF2B5EF4-FFF2-40B4-BE49-F238E27FC236}">
                <a16:creationId xmlns:a16="http://schemas.microsoft.com/office/drawing/2014/main" id="{27667743-9981-FDF9-A759-8172819DFA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06AE9C2E-BCFC-71F2-3D9E-D9593B892079}"/>
              </a:ext>
            </a:extLst>
          </p:cNvPr>
          <p:cNvSpPr txBox="1">
            <a:spLocks/>
          </p:cNvSpPr>
          <p:nvPr/>
        </p:nvSpPr>
        <p:spPr>
          <a:xfrm>
            <a:off x="598795" y="137160"/>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 Extra</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239E7420-6B03-8E15-C513-8F7DE4E1F54A}"/>
              </a:ext>
            </a:extLst>
          </p:cNvPr>
          <p:cNvSpPr txBox="1"/>
          <p:nvPr/>
        </p:nvSpPr>
        <p:spPr>
          <a:xfrm>
            <a:off x="609441" y="4860334"/>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Extra: What coupling coefficient will you select for the input coupler if you want to match the losses of the longer arm? Simulate and extract the ER.</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resolver la severa atenuación que sufre la señal óptica el brazo largo, lo cual desbalancea las amplitudes y degrada el </a:t>
            </a:r>
            <a:r>
              <a:rPr lang="es-ES" sz="1200" dirty="0" err="1">
                <a:latin typeface="Arial" panose="020B0604020202020204" pitchFamily="34" charset="0"/>
                <a:cs typeface="Arial" panose="020B0604020202020204" pitchFamily="34" charset="0"/>
              </a:rPr>
              <a:t>Extinction</a:t>
            </a:r>
            <a:r>
              <a:rPr lang="es-ES" sz="1200" dirty="0">
                <a:latin typeface="Arial" panose="020B0604020202020204" pitchFamily="34" charset="0"/>
                <a:cs typeface="Arial" panose="020B0604020202020204" pitchFamily="34" charset="0"/>
              </a:rPr>
              <a:t> Ratio (ER), se aplica una técnica de </a:t>
            </a:r>
            <a:r>
              <a:rPr lang="es-ES" sz="1200" dirty="0" err="1">
                <a:latin typeface="Arial" panose="020B0604020202020204" pitchFamily="34" charset="0"/>
                <a:cs typeface="Arial" panose="020B0604020202020204" pitchFamily="34" charset="0"/>
              </a:rPr>
              <a:t>pre-compensación</a:t>
            </a:r>
            <a:r>
              <a:rPr lang="es-ES" sz="1200" dirty="0">
                <a:latin typeface="Arial" panose="020B0604020202020204" pitchFamily="34" charset="0"/>
                <a:cs typeface="Arial" panose="020B0604020202020204" pitchFamily="34" charset="0"/>
              </a:rPr>
              <a:t> en la entrada del circuito. Al configurar el acoplador divisor inicial con un coeficiente fuertemente asimétrico de 0.99426, se obliga a que el 99.43% de la potencia inyectada viaje por el brazo con mayores pérdidas, dejando solo un 0.57% para el brazo corto. Esta distribución desproporcionada contrarresta exactamente la atenuación que sufrirá la luz en su largo recorrido, garantizando que, al llegar al acoplador combinador de salida (configurado idealmente al 50/50), ambas ondas presenten amplitudes exactamente idénticas. Como resultado de este balance perfecto justo en el momento de la recombinación, se logra una interferencia destructiva total que hace caer la potencia a cero, maximizando así el ER y recuperando la profundidad de las resonancias en la gráfica sin alterar el Free </a:t>
            </a:r>
            <a:r>
              <a:rPr lang="es-ES" sz="1200" dirty="0" err="1">
                <a:latin typeface="Arial" panose="020B0604020202020204" pitchFamily="34" charset="0"/>
                <a:cs typeface="Arial" panose="020B0604020202020204" pitchFamily="34" charset="0"/>
              </a:rPr>
              <a:t>Spectral</a:t>
            </a:r>
            <a:r>
              <a:rPr lang="es-ES" sz="1200" dirty="0">
                <a:latin typeface="Arial" panose="020B0604020202020204" pitchFamily="34" charset="0"/>
                <a:cs typeface="Arial" panose="020B0604020202020204" pitchFamily="34" charset="0"/>
              </a:rPr>
              <a:t> Range (FSR) original del interferómetro.</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6A154C57-0FFE-9ECC-3E4B-EAE35F8056CC}"/>
              </a:ext>
            </a:extLst>
          </p:cNvPr>
          <p:cNvSpPr txBox="1"/>
          <p:nvPr/>
        </p:nvSpPr>
        <p:spPr>
          <a:xfrm>
            <a:off x="0" y="1074336"/>
            <a:ext cx="4885038" cy="2862322"/>
          </a:xfrm>
          <a:prstGeom prst="rect">
            <a:avLst/>
          </a:prstGeom>
          <a:noFill/>
        </p:spPr>
        <p:txBody>
          <a:bodyPr wrap="square" rtlCol="0">
            <a:spAutoFit/>
          </a:bodyPr>
          <a:lstStyle/>
          <a:p>
            <a:pPr algn="ctr"/>
            <a:r>
              <a:rPr lang="es-ES" dirty="0"/>
              <a:t>Cálculo coeficiente de acoplo necesario:</a:t>
            </a:r>
          </a:p>
          <a:p>
            <a:pPr marL="342900" indent="-342900" algn="ctr">
              <a:buAutoNum type="arabicPeriod"/>
            </a:pPr>
            <a:r>
              <a:rPr lang="es-ES" dirty="0"/>
              <a:t>Atenuación extra del brazo largo:</a:t>
            </a:r>
            <a:endParaRPr lang="en-US" dirty="0"/>
          </a:p>
          <a:p>
            <a:pPr algn="ctr"/>
            <a:r>
              <a:rPr lang="en-US" dirty="0"/>
              <a:t>A (dB) = 0.004 dB/um x 56960 um =22.38 dB</a:t>
            </a:r>
          </a:p>
          <a:p>
            <a:pPr algn="ctr"/>
            <a:r>
              <a:rPr lang="en-US" dirty="0"/>
              <a:t>En lineal: 10^(22.38/10) = 173</a:t>
            </a:r>
          </a:p>
          <a:p>
            <a:pPr algn="ctr"/>
            <a:r>
              <a:rPr lang="en-US" dirty="0"/>
              <a:t>Pot </a:t>
            </a:r>
            <a:r>
              <a:rPr lang="en-US" dirty="0" err="1"/>
              <a:t>brazo</a:t>
            </a:r>
            <a:r>
              <a:rPr lang="en-US" dirty="0"/>
              <a:t> largo = Pot </a:t>
            </a:r>
            <a:r>
              <a:rPr lang="en-US" dirty="0" err="1"/>
              <a:t>brazocorto</a:t>
            </a:r>
            <a:endParaRPr lang="en-US" dirty="0"/>
          </a:p>
          <a:p>
            <a:pPr algn="ctr"/>
            <a:r>
              <a:rPr lang="en-US" dirty="0"/>
              <a:t>Pin x K / A = Pin x (1 - K) </a:t>
            </a:r>
            <a:r>
              <a:rPr lang="en-US" dirty="0">
                <a:sym typeface="Wingdings" panose="05000000000000000000" pitchFamily="2" charset="2"/>
              </a:rPr>
              <a:t> K = A/(1 + A) </a:t>
            </a:r>
          </a:p>
          <a:p>
            <a:pPr algn="ctr"/>
            <a:r>
              <a:rPr lang="en-US" dirty="0">
                <a:sym typeface="Wingdings" panose="05000000000000000000" pitchFamily="2" charset="2"/>
              </a:rPr>
              <a:t>K = 173/174 = 0.99426</a:t>
            </a:r>
            <a:endParaRPr lang="en-US" dirty="0"/>
          </a:p>
          <a:p>
            <a:pPr algn="ctr"/>
            <a:endParaRPr lang="en-US" dirty="0"/>
          </a:p>
          <a:p>
            <a:pPr algn="ctr"/>
            <a:endParaRPr lang="en-US" dirty="0"/>
          </a:p>
          <a:p>
            <a:pPr algn="ctr"/>
            <a:endParaRPr lang="es-ES" dirty="0"/>
          </a:p>
        </p:txBody>
      </p:sp>
      <p:pic>
        <p:nvPicPr>
          <p:cNvPr id="16" name="Imagen 15">
            <a:extLst>
              <a:ext uri="{FF2B5EF4-FFF2-40B4-BE49-F238E27FC236}">
                <a16:creationId xmlns:a16="http://schemas.microsoft.com/office/drawing/2014/main" id="{091FA45C-978E-1BA6-CC8E-177B58500D2F}"/>
              </a:ext>
            </a:extLst>
          </p:cNvPr>
          <p:cNvPicPr>
            <a:picLocks noChangeAspect="1"/>
          </p:cNvPicPr>
          <p:nvPr/>
        </p:nvPicPr>
        <p:blipFill>
          <a:blip r:embed="rId3"/>
          <a:stretch>
            <a:fillRect/>
          </a:stretch>
        </p:blipFill>
        <p:spPr>
          <a:xfrm>
            <a:off x="4648200" y="655521"/>
            <a:ext cx="7391400" cy="3908913"/>
          </a:xfrm>
          <a:prstGeom prst="rect">
            <a:avLst/>
          </a:prstGeom>
        </p:spPr>
      </p:pic>
    </p:spTree>
    <p:extLst>
      <p:ext uri="{BB962C8B-B14F-4D97-AF65-F5344CB8AC3E}">
        <p14:creationId xmlns:p14="http://schemas.microsoft.com/office/powerpoint/2010/main" val="2450249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13</a:t>
            </a:fld>
            <a:endParaRPr lang="en-US" dirty="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21" name="Imagen 20">
            <a:extLst>
              <a:ext uri="{FF2B5EF4-FFF2-40B4-BE49-F238E27FC236}">
                <a16:creationId xmlns:a16="http://schemas.microsoft.com/office/drawing/2014/main" id="{479892B7-424B-B388-759A-C72727F4CD7F}"/>
              </a:ext>
            </a:extLst>
          </p:cNvPr>
          <p:cNvPicPr>
            <a:picLocks noChangeAspect="1"/>
          </p:cNvPicPr>
          <p:nvPr/>
        </p:nvPicPr>
        <p:blipFill>
          <a:blip r:embed="rId3"/>
          <a:stretch>
            <a:fillRect/>
          </a:stretch>
        </p:blipFill>
        <p:spPr>
          <a:xfrm>
            <a:off x="1247098" y="1143000"/>
            <a:ext cx="9697803" cy="5144218"/>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23D80DF-D956-87CB-E3B5-633EB4A0565C}"/>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Marcador de número de diapositiva 4">
            <a:extLst>
              <a:ext uri="{FF2B5EF4-FFF2-40B4-BE49-F238E27FC236}">
                <a16:creationId xmlns:a16="http://schemas.microsoft.com/office/drawing/2014/main" id="{068AEC3B-7F37-C214-7031-84DBF91E5C0D}"/>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6" name="CuadroTexto 5">
            <a:extLst>
              <a:ext uri="{FF2B5EF4-FFF2-40B4-BE49-F238E27FC236}">
                <a16:creationId xmlns:a16="http://schemas.microsoft.com/office/drawing/2014/main" id="{C81A0DA0-20B6-7045-E51D-E8AC1223F679}"/>
              </a:ext>
            </a:extLst>
          </p:cNvPr>
          <p:cNvSpPr txBox="1"/>
          <p:nvPr/>
        </p:nvSpPr>
        <p:spPr>
          <a:xfrm>
            <a:off x="382870" y="4198223"/>
            <a:ext cx="11199530" cy="230832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Show a numeric calculation of the FSR and length difference matching the results in the graph,</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FSR (Free </a:t>
            </a:r>
            <a:r>
              <a:rPr lang="es-ES" sz="1200" dirty="0" err="1">
                <a:latin typeface="Arial" panose="020B0604020202020204" pitchFamily="34" charset="0"/>
                <a:cs typeface="Arial" panose="020B0604020202020204" pitchFamily="34" charset="0"/>
              </a:rPr>
              <a:t>Spectral</a:t>
            </a:r>
            <a:r>
              <a:rPr lang="es-ES" sz="1200" dirty="0">
                <a:latin typeface="Arial" panose="020B0604020202020204" pitchFamily="34" charset="0"/>
                <a:cs typeface="Arial" panose="020B0604020202020204" pitchFamily="34" charset="0"/>
              </a:rPr>
              <a:t> Range o Rango Libre Espectral) es el espaciado en longitud de onda entre dos picos o valles de resonancia consecutivos. Existe una relación inversamente proporcional entre el FSR y el perímetro del anillo (L). Físicamente, un anillo con un perímetro mayor requiere que la luz recorra una distancia más larga por vuelta, lo que estrecha la condición de fase para la interferencia constructiva y hace que las resonancias se aproximen entre sí (FSR más pequeño). Por el contrario, un anillo más pequeño (menor perímetro) concentra menos modos resonantes en la misma ventana espectral, dando lugar a un FSR más grande. El perímetro está fijado en el código a 75 micrómetros y el ng a 2. Por lo que:</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FSR = lamda^2/ng * L </a:t>
            </a:r>
            <a:r>
              <a:rPr lang="es-ES" sz="1200" dirty="0">
                <a:latin typeface="Arial" panose="020B0604020202020204" pitchFamily="34" charset="0"/>
                <a:cs typeface="Arial" panose="020B0604020202020204" pitchFamily="34" charset="0"/>
                <a:sym typeface="Wingdings" panose="05000000000000000000" pitchFamily="2" charset="2"/>
              </a:rPr>
              <a:t> FSR = (1550 x10^-9)^2 / 2 * 75x10^-6 = 16 nm </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6EDE590C-6D7F-3FFE-B1E9-3B75017AB3DF}"/>
              </a:ext>
            </a:extLst>
          </p:cNvPr>
          <p:cNvSpPr txBox="1"/>
          <p:nvPr/>
        </p:nvSpPr>
        <p:spPr>
          <a:xfrm>
            <a:off x="990600" y="928689"/>
            <a:ext cx="3771900" cy="1200329"/>
          </a:xfrm>
          <a:prstGeom prst="rect">
            <a:avLst/>
          </a:prstGeom>
          <a:noFill/>
        </p:spPr>
        <p:txBody>
          <a:bodyPr wrap="square" rtlCol="0">
            <a:spAutoFit/>
          </a:bodyPr>
          <a:lstStyle/>
          <a:p>
            <a:r>
              <a:rPr lang="es-ES" dirty="0"/>
              <a:t>Existe una primera resonancia en 1562.4 nm y una segunda en 1579 por lo que el FSR es 1577.7 – 1.5624 = 16 nm aproximadamente</a:t>
            </a:r>
          </a:p>
        </p:txBody>
      </p:sp>
      <p:pic>
        <p:nvPicPr>
          <p:cNvPr id="12" name="Imagen 11">
            <a:extLst>
              <a:ext uri="{FF2B5EF4-FFF2-40B4-BE49-F238E27FC236}">
                <a16:creationId xmlns:a16="http://schemas.microsoft.com/office/drawing/2014/main" id="{8D7CE0C4-66CD-AEEF-1535-B8B76800F499}"/>
              </a:ext>
            </a:extLst>
          </p:cNvPr>
          <p:cNvPicPr>
            <a:picLocks noChangeAspect="1"/>
          </p:cNvPicPr>
          <p:nvPr/>
        </p:nvPicPr>
        <p:blipFill>
          <a:blip r:embed="rId2"/>
          <a:stretch>
            <a:fillRect/>
          </a:stretch>
        </p:blipFill>
        <p:spPr>
          <a:xfrm>
            <a:off x="5302120" y="381000"/>
            <a:ext cx="6424450" cy="3496036"/>
          </a:xfrm>
          <a:prstGeom prst="rect">
            <a:avLst/>
          </a:prstGeom>
        </p:spPr>
      </p:pic>
    </p:spTree>
    <p:extLst>
      <p:ext uri="{BB962C8B-B14F-4D97-AF65-F5344CB8AC3E}">
        <p14:creationId xmlns:p14="http://schemas.microsoft.com/office/powerpoint/2010/main" val="3711443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6AB22-C21E-6D99-1A38-89B98AA46C98}"/>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867773AE-BCDB-3185-2E67-DC78B6796F21}"/>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C660A5E2-79DB-8213-E2E1-7442127F0578}"/>
              </a:ext>
            </a:extLst>
          </p:cNvPr>
          <p:cNvSpPr>
            <a:spLocks noGrp="1"/>
          </p:cNvSpPr>
          <p:nvPr>
            <p:ph type="sldNum" sz="quarter" idx="7"/>
          </p:nvPr>
        </p:nvSpPr>
        <p:spPr/>
        <p:txBody>
          <a:bodyPr/>
          <a:lstStyle/>
          <a:p>
            <a:fld id="{C2F52289-4012-4053-9770-FE82CEB9514F}" type="slidenum">
              <a:rPr lang="en-US" smtClean="0"/>
              <a:pPr/>
              <a:t>15</a:t>
            </a:fld>
            <a:endParaRPr lang="en-US" dirty="0"/>
          </a:p>
        </p:txBody>
      </p:sp>
      <p:pic>
        <p:nvPicPr>
          <p:cNvPr id="11" name="Gráfico 10">
            <a:extLst>
              <a:ext uri="{FF2B5EF4-FFF2-40B4-BE49-F238E27FC236}">
                <a16:creationId xmlns:a16="http://schemas.microsoft.com/office/drawing/2014/main" id="{2BF721E7-C2F6-A732-8417-E0CB81529F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BB628E6C-9DD1-37AF-0670-B6736FB7D8E0}"/>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9" name="Imagen 8">
            <a:extLst>
              <a:ext uri="{FF2B5EF4-FFF2-40B4-BE49-F238E27FC236}">
                <a16:creationId xmlns:a16="http://schemas.microsoft.com/office/drawing/2014/main" id="{FF079504-5CBF-2B0D-13E8-00F767DCA7D6}"/>
              </a:ext>
            </a:extLst>
          </p:cNvPr>
          <p:cNvPicPr>
            <a:picLocks noChangeAspect="1"/>
          </p:cNvPicPr>
          <p:nvPr/>
        </p:nvPicPr>
        <p:blipFill>
          <a:blip r:embed="rId3"/>
          <a:stretch>
            <a:fillRect/>
          </a:stretch>
        </p:blipFill>
        <p:spPr>
          <a:xfrm>
            <a:off x="1337598" y="1204284"/>
            <a:ext cx="9516803" cy="5153744"/>
          </a:xfrm>
          <a:prstGeom prst="rect">
            <a:avLst/>
          </a:prstGeom>
        </p:spPr>
      </p:pic>
    </p:spTree>
    <p:extLst>
      <p:ext uri="{BB962C8B-B14F-4D97-AF65-F5344CB8AC3E}">
        <p14:creationId xmlns:p14="http://schemas.microsoft.com/office/powerpoint/2010/main" val="2957671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16</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228600" y="1447800"/>
            <a:ext cx="11506200" cy="304698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describe the transfer function. How’s the dependence on the coupler coefficient? Calculate the Extinction Ratio. How would you achieve critical coupling for the latter design? Justify your answers.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obtener</a:t>
            </a:r>
            <a:r>
              <a:rPr lang="en-US" sz="1200" dirty="0">
                <a:latin typeface="Arial" panose="020B0604020202020204" pitchFamily="34" charset="0"/>
                <a:cs typeface="Arial" panose="020B0604020202020204" pitchFamily="34" charset="0"/>
              </a:rPr>
              <a:t> un FSR de 15 nm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perímetro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ser 80.08 </a:t>
            </a:r>
            <a:r>
              <a:rPr lang="en-US" sz="1200" dirty="0" err="1">
                <a:latin typeface="Arial" panose="020B0604020202020204" pitchFamily="34" charset="0"/>
                <a:cs typeface="Arial" panose="020B0604020202020204" pitchFamily="34" charset="0"/>
              </a:rPr>
              <a:t>micrometros</a:t>
            </a:r>
            <a:r>
              <a:rPr lang="en-US" sz="1200" dirty="0">
                <a:latin typeface="Arial" panose="020B0604020202020204" pitchFamily="34" charset="0"/>
                <a:cs typeface="Arial" panose="020B0604020202020204" pitchFamily="34" charset="0"/>
              </a:rPr>
              <a:t>. L = 1550 x 10^9/2* 15 x10 ^-9 = 80.08 </a:t>
            </a:r>
            <a:r>
              <a:rPr lang="en-US" sz="1200" dirty="0" err="1">
                <a:latin typeface="Arial" panose="020B0604020202020204" pitchFamily="34" charset="0"/>
                <a:cs typeface="Arial" panose="020B0604020202020204" pitchFamily="34" charset="0"/>
              </a:rPr>
              <a:t>micrometros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coeficiente de acoplo (K) define cuánta potencia pasa del bus al anillo, y su relación con las pérdidas internas determina el régimen de funcionamiento. En el caso de </a:t>
            </a:r>
            <a:r>
              <a:rPr lang="es-ES" sz="1200" dirty="0" err="1">
                <a:latin typeface="Arial" panose="020B0604020202020204" pitchFamily="34" charset="0"/>
                <a:cs typeface="Arial" panose="020B0604020202020204" pitchFamily="34" charset="0"/>
              </a:rPr>
              <a:t>Sub-acoplamiento</a:t>
            </a:r>
            <a:r>
              <a:rPr lang="es-ES" sz="1200" dirty="0">
                <a:latin typeface="Arial" panose="020B0604020202020204" pitchFamily="34" charset="0"/>
                <a:cs typeface="Arial" panose="020B0604020202020204" pitchFamily="34" charset="0"/>
              </a:rPr>
              <a:t> (K &lt; pérdidas): Entra poca luz. Resonancias estrechas pero poco profundas. Con acoplamiento Crítico (K = pérdidas): Entra la cantidad exacta de luz que se pierde por vuelta. Resonancia de máxima profundidad. </a:t>
            </a:r>
            <a:r>
              <a:rPr lang="es-ES" sz="1200" dirty="0" err="1">
                <a:latin typeface="Arial" panose="020B0604020202020204" pitchFamily="34" charset="0"/>
                <a:cs typeface="Arial" panose="020B0604020202020204" pitchFamily="34" charset="0"/>
              </a:rPr>
              <a:t>Sobre-acoplamiento</a:t>
            </a:r>
            <a:r>
              <a:rPr lang="es-ES" sz="1200" dirty="0">
                <a:latin typeface="Arial" panose="020B0604020202020204" pitchFamily="34" charset="0"/>
                <a:cs typeface="Arial" panose="020B0604020202020204" pitchFamily="34" charset="0"/>
              </a:rPr>
              <a:t> (K &gt; pérdidas): Entra y sale mucha luz rápidamente. Resonancias anchas y que pierden profundidad.</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a:t>
            </a:r>
            <a:r>
              <a:rPr lang="es-ES" sz="1200" dirty="0" err="1">
                <a:latin typeface="Arial" panose="020B0604020202020204" pitchFamily="34" charset="0"/>
                <a:cs typeface="Arial" panose="020B0604020202020204" pitchFamily="34" charset="0"/>
              </a:rPr>
              <a:t>Extinction</a:t>
            </a:r>
            <a:r>
              <a:rPr lang="es-ES" sz="1200" dirty="0">
                <a:latin typeface="Arial" panose="020B0604020202020204" pitchFamily="34" charset="0"/>
                <a:cs typeface="Arial" panose="020B0604020202020204" pitchFamily="34" charset="0"/>
              </a:rPr>
              <a:t> Ratio (ER) es la diferencia en dB entre la transmisión máxima fuera de resonancia (usualmente en torno a los 0 dB) y el mínimo en el pico de resonancia.</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Para lograr el acoplamiento crítico en este diseño, se debe igualar exactamente el coeficiente de acoplo (K) a las pérdidas ópticas totales de una vuelta completa dentro del anillo. Ya que cuando la potencia inyectada es idéntica a la potencia disipada por propagación en el perímetro del anillo, la amplitud de la onda transmitida directamente por el bus y la amplitud de la onda que sale del anillo son matemáticamente iguales. Al estar desfasadas 180º resonancia, se cancelan perfectamente, llevando la transmisión a cero (extinción máxima).</a:t>
            </a:r>
            <a:endParaRPr lang="en-US" sz="1200" dirty="0">
              <a:latin typeface="Arial" panose="020B0604020202020204" pitchFamily="34" charset="0"/>
              <a:cs typeface="Arial" panose="020B0604020202020204" pitchFamily="34" charset="0"/>
            </a:endParaRPr>
          </a:p>
        </p:txBody>
      </p:sp>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spTree>
    <p:extLst>
      <p:ext uri="{BB962C8B-B14F-4D97-AF65-F5344CB8AC3E}">
        <p14:creationId xmlns:p14="http://schemas.microsoft.com/office/powerpoint/2010/main" val="2915989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404641" y="4734342"/>
            <a:ext cx="11199530"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realizar el barrido del coeficiente de acoplo (K de 0.1 a 0.9) manteniendo las pérdidas fijas en 4 dB/cm, todas las resonancias operan en el régimen de </a:t>
            </a:r>
            <a:r>
              <a:rPr lang="es-ES" sz="1200" dirty="0" err="1">
                <a:latin typeface="Arial" panose="020B0604020202020204" pitchFamily="34" charset="0"/>
                <a:cs typeface="Arial" panose="020B0604020202020204" pitchFamily="34" charset="0"/>
              </a:rPr>
              <a:t>sobre-acoplamiento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over-coupled</a:t>
            </a:r>
            <a:r>
              <a:rPr lang="es-ES" sz="1200" dirty="0">
                <a:latin typeface="Arial" panose="020B0604020202020204" pitchFamily="34" charset="0"/>
                <a:cs typeface="Arial" panose="020B0604020202020204" pitchFamily="34" charset="0"/>
              </a:rPr>
              <a:t>), mostrando valles anchos y muy poco profundos. En ningún caso estamos cerca del acoplamiento crítico, ya que la potencia inyectada al anillo en todo el barrido supera con creces a las pérdidas internas por vuelta (que requerirían un 0.025 para alcanzar el equilibrio). Al entrar y salir tanta luz tan rápido, la interferencia destructiva pierde efectividad y es imposible lograr una cancelación total de la potencia a la salida. En la siguiente diapositiva ajustamos el barrido de 0 a 0.1 con paso de 0.01.</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dirty="0"/>
              <a:t>…</a:t>
            </a:r>
            <a:endParaRPr lang="en-US" sz="2000" dirty="0"/>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pic>
        <p:nvPicPr>
          <p:cNvPr id="4" name="Imagen 3">
            <a:extLst>
              <a:ext uri="{FF2B5EF4-FFF2-40B4-BE49-F238E27FC236}">
                <a16:creationId xmlns:a16="http://schemas.microsoft.com/office/drawing/2014/main" id="{1A32E4AE-251B-046C-01A8-9C79969CE87B}"/>
              </a:ext>
            </a:extLst>
          </p:cNvPr>
          <p:cNvPicPr>
            <a:picLocks noChangeAspect="1"/>
          </p:cNvPicPr>
          <p:nvPr/>
        </p:nvPicPr>
        <p:blipFill>
          <a:blip r:embed="rId3"/>
          <a:stretch>
            <a:fillRect/>
          </a:stretch>
        </p:blipFill>
        <p:spPr>
          <a:xfrm>
            <a:off x="2287100" y="1113032"/>
            <a:ext cx="7943771" cy="3200400"/>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1E5127C-88A9-C12B-7B7B-8E887487E266}"/>
              </a:ext>
            </a:extLst>
          </p:cNvPr>
          <p:cNvSpPr>
            <a:spLocks noGrp="1"/>
          </p:cNvSpPr>
          <p:nvPr>
            <p:ph type="body" idx="1"/>
          </p:nvPr>
        </p:nvSpPr>
        <p:spPr>
          <a:xfrm>
            <a:off x="830269" y="4038599"/>
            <a:ext cx="10972800" cy="1107996"/>
          </a:xfrm>
        </p:spPr>
        <p:txBody>
          <a:bodyPr/>
          <a:lstStyle/>
          <a:p>
            <a:r>
              <a:rPr lang="es-ES" sz="1200" dirty="0">
                <a:latin typeface="Arial" panose="020B0604020202020204" pitchFamily="34" charset="0"/>
                <a:cs typeface="Arial" panose="020B0604020202020204" pitchFamily="34" charset="0"/>
              </a:rPr>
              <a:t>Al realizar el barrido del coeficiente de acoplo K con unas pérdidas fijas de 4 dB/cm, se observan claramente los tres regímenes de operación del anillo resonante. En primer lugar, al ajustar el valor a K = 0.01, alcanzamos el acoplamiento crítico, el cual destaca visualmente por presentar la resonancia de máxima profundidad con una transmisión que cae prácticamente a cero; físicamente, este es el caso óptimo puesto que la potencia inyectada se iguala exactamente a las pérdidas intrínsecas del anillo, logrando así una interferencia destructiva total a la salida. Finalmente, si incrementamos aún más el acoplo (como en los casos de K =0.06 y 0.09), el anillo pasa al régimen de </a:t>
            </a:r>
            <a:r>
              <a:rPr lang="es-ES" sz="1200" dirty="0" err="1">
                <a:latin typeface="Arial" panose="020B0604020202020204" pitchFamily="34" charset="0"/>
                <a:cs typeface="Arial" panose="020B0604020202020204" pitchFamily="34" charset="0"/>
              </a:rPr>
              <a:t>sobre-acoplamiento</a:t>
            </a:r>
            <a:r>
              <a:rPr lang="es-ES" sz="1200" dirty="0">
                <a:latin typeface="Arial" panose="020B0604020202020204" pitchFamily="34" charset="0"/>
                <a:cs typeface="Arial" panose="020B0604020202020204" pitchFamily="34" charset="0"/>
              </a:rPr>
              <a:t>, dando lugar a resonancias mucho más anchas y poco profundas ya que la luz entra y sale demasiado rápido, lo que impide una cancelación eficaz de la potencia.</a:t>
            </a:r>
          </a:p>
        </p:txBody>
      </p:sp>
      <p:sp>
        <p:nvSpPr>
          <p:cNvPr id="4" name="Marcador de pie de página 3">
            <a:extLst>
              <a:ext uri="{FF2B5EF4-FFF2-40B4-BE49-F238E27FC236}">
                <a16:creationId xmlns:a16="http://schemas.microsoft.com/office/drawing/2014/main" id="{166CD324-52B2-CD6A-8CB8-BB94FB34409C}"/>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5" name="Marcador de número de diapositiva 4">
            <a:extLst>
              <a:ext uri="{FF2B5EF4-FFF2-40B4-BE49-F238E27FC236}">
                <a16:creationId xmlns:a16="http://schemas.microsoft.com/office/drawing/2014/main" id="{018E4AD5-93B1-D516-2488-F33855B085C1}"/>
              </a:ext>
            </a:extLst>
          </p:cNvPr>
          <p:cNvSpPr>
            <a:spLocks noGrp="1"/>
          </p:cNvSpPr>
          <p:nvPr>
            <p:ph type="sldNum" sz="quarter" idx="7"/>
          </p:nvPr>
        </p:nvSpPr>
        <p:spPr/>
        <p:txBody>
          <a:bodyPr/>
          <a:lstStyle/>
          <a:p>
            <a:fld id="{B6F15528-21DE-4FAA-801E-634DDDAF4B2B}" type="slidenum">
              <a:rPr lang="es-ES" smtClean="0"/>
              <a:t>18</a:t>
            </a:fld>
            <a:endParaRPr lang="es-ES"/>
          </a:p>
        </p:txBody>
      </p:sp>
      <p:pic>
        <p:nvPicPr>
          <p:cNvPr id="6" name="Imagen 5">
            <a:extLst>
              <a:ext uri="{FF2B5EF4-FFF2-40B4-BE49-F238E27FC236}">
                <a16:creationId xmlns:a16="http://schemas.microsoft.com/office/drawing/2014/main" id="{AE689A41-65B3-C9B9-4238-D6A55A8AA326}"/>
              </a:ext>
            </a:extLst>
          </p:cNvPr>
          <p:cNvPicPr>
            <a:picLocks noChangeAspect="1"/>
          </p:cNvPicPr>
          <p:nvPr/>
        </p:nvPicPr>
        <p:blipFill>
          <a:blip r:embed="rId2"/>
          <a:stretch>
            <a:fillRect/>
          </a:stretch>
        </p:blipFill>
        <p:spPr>
          <a:xfrm>
            <a:off x="1447800" y="381000"/>
            <a:ext cx="8991600" cy="3455231"/>
          </a:xfrm>
          <a:prstGeom prst="rect">
            <a:avLst/>
          </a:prstGeom>
        </p:spPr>
      </p:pic>
    </p:spTree>
    <p:extLst>
      <p:ext uri="{BB962C8B-B14F-4D97-AF65-F5344CB8AC3E}">
        <p14:creationId xmlns:p14="http://schemas.microsoft.com/office/powerpoint/2010/main" val="3553350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19</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228600" y="1048727"/>
            <a:ext cx="5178378" cy="489364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Try to classify the resonances, in which case are you close to critical coupling? Why?</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analizar la función de transferencia manteniendo el coeficiente de acoplo fijo y variando las pérdidas de propagación, observamos cómo el anillo transita por diferentes regímenes físicos. Para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0 dB/cm, el sistema opera sin pérdidas (filtro </a:t>
            </a:r>
            <a:r>
              <a:rPr lang="es-ES" sz="1200" dirty="0" err="1">
                <a:latin typeface="Arial" panose="020B0604020202020204" pitchFamily="34" charset="0"/>
                <a:cs typeface="Arial" panose="020B0604020202020204" pitchFamily="34" charset="0"/>
              </a:rPr>
              <a:t>All</a:t>
            </a:r>
            <a:r>
              <a:rPr lang="es-ES" sz="1200" dirty="0">
                <a:latin typeface="Arial" panose="020B0604020202020204" pitchFamily="34" charset="0"/>
                <a:cs typeface="Arial" panose="020B0604020202020204" pitchFamily="34" charset="0"/>
              </a:rPr>
              <a:t>-Pass puro), por lo que no hay disipación de energía y no se forma ningún valle de resonancia. Al incrementar las pérdidas a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1 y 2 dB/cm, entramos en el régimen de </a:t>
            </a:r>
            <a:r>
              <a:rPr lang="es-ES" sz="1200" dirty="0" err="1">
                <a:latin typeface="Arial" panose="020B0604020202020204" pitchFamily="34" charset="0"/>
                <a:cs typeface="Arial" panose="020B0604020202020204" pitchFamily="34" charset="0"/>
              </a:rPr>
              <a:t>sobre-acoplamiento</a:t>
            </a:r>
            <a:r>
              <a:rPr lang="es-ES" sz="1200" dirty="0">
                <a:latin typeface="Arial" panose="020B0604020202020204" pitchFamily="34" charset="0"/>
                <a:cs typeface="Arial" panose="020B0604020202020204" pitchFamily="34" charset="0"/>
              </a:rPr>
              <a:t>; aquí, la luz inyectada supera a la disipada, formando valles que no alcanzan la extinción total porque la interferencia destructiva es solo parcial. Por el contrario, para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10 dB/cm, las pérdidas son tan extremas que superan con creces a la luz acoplada (</a:t>
            </a:r>
            <a:r>
              <a:rPr lang="es-ES" sz="1200" dirty="0" err="1">
                <a:latin typeface="Arial" panose="020B0604020202020204" pitchFamily="34" charset="0"/>
                <a:cs typeface="Arial" panose="020B0604020202020204" pitchFamily="34" charset="0"/>
              </a:rPr>
              <a:t>sub-acoplamiento</a:t>
            </a:r>
            <a:r>
              <a:rPr lang="es-ES" sz="1200" dirty="0">
                <a:latin typeface="Arial" panose="020B0604020202020204" pitchFamily="34" charset="0"/>
                <a:cs typeface="Arial" panose="020B0604020202020204" pitchFamily="34" charset="0"/>
              </a:rPr>
              <a:t>), haciendo que los fotones se atenúen muy rápido dentro del anillo y dando lugar a resonancias más estrechas pero </a:t>
            </a:r>
            <a:r>
              <a:rPr lang="es-ES" sz="1200" dirty="0" err="1">
                <a:latin typeface="Arial" panose="020B0604020202020204" pitchFamily="34" charset="0"/>
                <a:cs typeface="Arial" panose="020B0604020202020204" pitchFamily="34" charset="0"/>
              </a:rPr>
              <a:t>superficiales.¿En</a:t>
            </a:r>
            <a:r>
              <a:rPr lang="es-ES" sz="1200" dirty="0">
                <a:latin typeface="Arial" panose="020B0604020202020204" pitchFamily="34" charset="0"/>
                <a:cs typeface="Arial" panose="020B0604020202020204" pitchFamily="34" charset="0"/>
              </a:rPr>
              <a:t> qué caso estamos cerca del acoplamiento crítico y por qué? El acoplamiento crítico no se muestra explícitamente, sino que se encuentra en un punto intermedio entre las curvas de 2 dB/cm y 10 dB/cm (específicamente alrededor de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4 dB/cm, tal y como comprobamos en simulaciones anteriores). Físicamente, justificamos que el punto crítico debe estar ahí porque es el único valor exacto donde las pérdidas internas del anillo logran igualar a la potencia inyectada por el acoplador. Solo en ese punto de equilibrio perfecto se consigue que la amplitud de ambas ondas sea idéntica, produciendo una interferencia destructiva total que haría caer la transmisión a cero absoluto.</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598795" y="129247"/>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pic>
        <p:nvPicPr>
          <p:cNvPr id="3" name="Imagen 2">
            <a:extLst>
              <a:ext uri="{FF2B5EF4-FFF2-40B4-BE49-F238E27FC236}">
                <a16:creationId xmlns:a16="http://schemas.microsoft.com/office/drawing/2014/main" id="{C9B118C2-8089-525D-26E7-A4F34DFF7C05}"/>
              </a:ext>
            </a:extLst>
          </p:cNvPr>
          <p:cNvPicPr>
            <a:picLocks noChangeAspect="1"/>
          </p:cNvPicPr>
          <p:nvPr/>
        </p:nvPicPr>
        <p:blipFill>
          <a:blip r:embed="rId3"/>
          <a:stretch>
            <a:fillRect/>
          </a:stretch>
        </p:blipFill>
        <p:spPr>
          <a:xfrm>
            <a:off x="5492620" y="753009"/>
            <a:ext cx="6705600" cy="3742660"/>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1476</TotalTime>
  <Words>3018</Words>
  <Application>Microsoft Office PowerPoint</Application>
  <PresentationFormat>Panorámica</PresentationFormat>
  <Paragraphs>188</Paragraphs>
  <Slides>20</Slides>
  <Notes>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Aptos</vt:lpstr>
      <vt:lpstr>Arial</vt:lpstr>
      <vt:lpstr>Calibri</vt:lpstr>
      <vt:lpstr>Lucida Sans</vt:lpstr>
      <vt:lpstr>Wingdings</vt:lpstr>
      <vt:lpstr>Office Theme</vt:lpstr>
      <vt:lpstr>Presentación de PowerPoint</vt:lpstr>
      <vt:lpstr>Instructions General</vt:lpstr>
      <vt:lpstr>Learning outcome #1a – Perfectly balanced MZI </vt:lpstr>
      <vt:lpstr>Learning outcome #1a – Perfectly balanced MZI </vt:lpstr>
      <vt:lpstr>Learning outcome #1b – Unbalanced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David Pérez</cp:lastModifiedBy>
  <cp:revision>19</cp:revision>
  <dcterms:created xsi:type="dcterms:W3CDTF">2025-01-27T02:46:57Z</dcterms:created>
  <dcterms:modified xsi:type="dcterms:W3CDTF">2026-05-29T19:07:57Z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